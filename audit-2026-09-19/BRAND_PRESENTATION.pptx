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1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image" Target="../media/image-9-5.png"/><Relationship Id="rId6" Type="http://schemas.openxmlformats.org/officeDocument/2006/relationships/image" Target="../media/image-9-5.png"/><Relationship Id="rId7" Type="http://schemas.openxmlformats.org/officeDocument/2006/relationships/image" Target="../media/image-9-5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463040"/>
            <a:ext cx="4754880" cy="4754880"/>
          </a:xfrm>
          <a:prstGeom prst="ellipse">
            <a:avLst/>
          </a:prstGeom>
          <a:solidFill>
            <a:srgbClr val="4C3BC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3A3255"/>
          </a:solidFill>
          <a:ln/>
        </p:spPr>
      </p:sp>
      <p:pic>
        <p:nvPicPr>
          <p:cNvPr id="4" name="Image 0" descr="C:\Users\Sage world\AppData\Local\Temp\claude\C--Users-Sage-world-Downloads-New-Influora-Ai-New-Influora\f8dfa7bf-ad9d-4ce7-9bc5-ca8741c1aa1c\scratchpad\pptx_build\logo-locku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2788920" cy="512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7A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FOR BRANDS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69748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creator campaigns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brands and creators trust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look at what is live today, what is being hardened, and what is on the roadmap — built straight from the current codebase, not a pitch.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17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Sage · September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Creator campaigns still run on chaos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5" name="Image 0" descr="C:\Users\Sage world\AppData\Local\Temp\claude\C--Users-Sage-world-Downloads-New-Influora-Ai-New-Influora\f8dfa7bf-ad9d-4ce7-9bc5-ca8741c1aa1c\scratchpad\pptx_build\icons\layers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20396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938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record of the deal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313432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Briefs, approvals and pricing scatter across spreadsheets, WhatsApp threads and email — with no single version either side can point 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566928" cy="566928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9" name="Image 1" descr="C:\Users\Sage world\AppData\Local\Temp\claude\C--Users-Sage-world-Downloads-New-Influora-Ai-New-Influora\f8dfa7bf-ad9d-4ce7-9bc5-ca8741c1aa1c\scratchpad\pptx_build\icons\search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3456981"/>
            <a:ext cx="419527" cy="4195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335584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right creator is manual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3730752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lean on DMs and personal networks to find and vet creators, with no structured way to compare who actually delivers.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13" name="Image 2" descr="C:\Users\Sage world\AppData\Local\Temp\claude\C--Users-Sage-world-Downloads-New-Influora-Ai-New-Influora\f8dfa7bf-ad9d-4ce7-9bc5-ca8741c1aa1c\scratchpad\pptx_build\icons\card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4874301"/>
            <a:ext cx="419527" cy="41952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477316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a trust exercise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371600" y="5148072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changes hands before or after work is done with no workflow in between, so every campaign restarts the trust problem from zero.</a:t>
            </a:r>
            <a:endParaRPr lang="en-US" sz="1300" dirty="0"/>
          </a:p>
        </p:txBody>
      </p:sp>
      <p:pic>
        <p:nvPicPr>
          <p:cNvPr id="16" name="Image 3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18" name="Text 12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INFLUORA DOES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the whole campaign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410712" cy="3566160"/>
          </a:xfrm>
          <a:prstGeom prst="roundRect">
            <a:avLst>
              <a:gd name="adj" fmla="val 2413"/>
            </a:avLst>
          </a:prstGeom>
          <a:solidFill>
            <a:srgbClr val="F3EFFC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658368" cy="658368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6" name="Image 0" descr="C:\Users\Sage world\AppData\Local\Temp\claude\C--Users-Sage-world-Downloads-New-Influora-Ai-New-Influora\f8dfa7bf-ad9d-4ce7-9bc5-ca8741c1aa1c\scratchpad\pptx_build\icons\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268" y="2463028"/>
            <a:ext cx="487192" cy="48719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004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49040"/>
            <a:ext cx="2770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and shortlist creators in the Influora marketplace for your brand and budget.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5029200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0200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187952" y="2057400"/>
            <a:ext cx="3410712" cy="3566160"/>
          </a:xfrm>
          <a:prstGeom prst="roundRect">
            <a:avLst>
              <a:gd name="adj" fmla="val 2413"/>
            </a:avLst>
          </a:prstGeom>
          <a:solidFill>
            <a:srgbClr val="F3EFFC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07992" y="2377440"/>
            <a:ext cx="658368" cy="658368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13" name="Image 1" descr="C:\Users\Sage world\AppData\Local\Temp\claude\C--Users-Sage-world-Downloads-New-Influora-Ai-New-Influora\f8dfa7bf-ad9d-4ce7-9bc5-ca8741c1aa1c\scratchpad\pptx_build\icons\mess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580" y="2463028"/>
            <a:ext cx="487192" cy="4871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07992" y="32004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Collaborate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4507992" y="3749040"/>
            <a:ext cx="2770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Brief, chat and track deliverables with each creator inside a dedicated deal room.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07992" y="5029200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507992" y="50200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827264" y="2057400"/>
            <a:ext cx="3410712" cy="3566160"/>
          </a:xfrm>
          <a:prstGeom prst="roundRect">
            <a:avLst>
              <a:gd name="adj" fmla="val 2413"/>
            </a:avLst>
          </a:prstGeom>
          <a:solidFill>
            <a:srgbClr val="F3EFFC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47304" y="2377440"/>
            <a:ext cx="658368" cy="658368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20" name="Image 2" descr="C:\Users\Sage world\AppData\Local\Temp\claude\C--Users-Sage-world-Downloads-New-Influora-Ai-New-Influora\f8dfa7bf-ad9d-4ce7-9bc5-ca8741c1aa1c\scratchpad\pptx_build\icons\car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892" y="2463028"/>
            <a:ext cx="487192" cy="48719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147304" y="320040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on approval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147304" y="3749040"/>
            <a:ext cx="2770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campaign funds in your Influora wallet and release them once you approve the work.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147304" y="5029200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147304" y="502005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pic>
        <p:nvPicPr>
          <p:cNvPr id="25" name="Image 3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JOURNEY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sign-up to a paid campaign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658082" y="3246120"/>
            <a:ext cx="8875532" cy="0"/>
          </a:xfrm>
          <a:prstGeom prst="line">
            <a:avLst/>
          </a:prstGeom>
          <a:noFill/>
          <a:ln w="25400">
            <a:solidFill>
              <a:srgbClr val="D8D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3742" y="2811780"/>
            <a:ext cx="868680" cy="86868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6" name="Image 0" descr="C:\Users\Sage world\AppData\Local\Temp\claude\C--Users-Sage-world-Downloads-New-Influora-Ai-New-Influora\f8dfa7bf-ad9d-4ce7-9bc5-ca8741c1aa1c\scratchpad\pptx_build\icons\userCheck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6670" y="2924708"/>
            <a:ext cx="642823" cy="64282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72966" y="2709367"/>
            <a:ext cx="292608" cy="292608"/>
          </a:xfrm>
          <a:prstGeom prst="ellipse">
            <a:avLst/>
          </a:prstGeom>
          <a:solidFill>
            <a:srgbClr val="221E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72966" y="270022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904488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verify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workspace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72282" y="4663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72282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42625" y="2811780"/>
            <a:ext cx="868680" cy="86868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13" name="Image 1" descr="C:\Users\Sage world\AppData\Local\Temp\claude\C--Users-Sage-world-Downloads-New-Influora-Ai-New-Influora\f8dfa7bf-ad9d-4ce7-9bc5-ca8741c1aa1c\scratchpad\pptx_build\icons\search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5553" y="2924708"/>
            <a:ext cx="642823" cy="64282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091849" y="2709367"/>
            <a:ext cx="292608" cy="292608"/>
          </a:xfrm>
          <a:prstGeom prst="ellipse">
            <a:avLst/>
          </a:prstGeom>
          <a:solidFill>
            <a:srgbClr val="221E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091849" y="270022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840675" y="3904488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creators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191165" y="4663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191165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1508" y="2811780"/>
            <a:ext cx="868680" cy="86868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20" name="Image 2" descr="C:\Users\Sage world\AppData\Local\Temp\claude\C--Users-Sage-world-Downloads-New-Influora-Ai-New-Influora\f8dfa7bf-ad9d-4ce7-9bc5-ca8741c1aa1c\scratchpad\pptx_build\icons\send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36" y="2924708"/>
            <a:ext cx="642823" cy="642823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310732" y="2709367"/>
            <a:ext cx="292608" cy="292608"/>
          </a:xfrm>
          <a:prstGeom prst="ellipse">
            <a:avLst/>
          </a:prstGeom>
          <a:solidFill>
            <a:srgbClr val="221E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310732" y="270022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5059558" y="3904488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a campaign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5410048" y="4663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410048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7880391" y="2811780"/>
            <a:ext cx="868680" cy="868680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27" name="Image 3" descr="C:\Users\Sage world\AppData\Local\Temp\claude\C--Users-Sage-world-Downloads-New-Influora-Ai-New-Influora\f8dfa7bf-ad9d-4ce7-9bc5-ca8741c1aa1c\scratchpad\pptx_build\icons\messag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319" y="2924708"/>
            <a:ext cx="642823" cy="642823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529615" y="2709367"/>
            <a:ext cx="292608" cy="292608"/>
          </a:xfrm>
          <a:prstGeom prst="ellipse">
            <a:avLst/>
          </a:prstGeom>
          <a:solidFill>
            <a:srgbClr val="221E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8529615" y="270022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7278441" y="3904488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in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room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7628931" y="4663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7628931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0099274" y="2811780"/>
            <a:ext cx="868680" cy="868680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34" name="Image 4" descr="C:\Users\Sage world\AppData\Local\Temp\claude\C--Users-Sage-world-Downloads-New-Influora-Ai-New-Influora\f8dfa7bf-ad9d-4ce7-9bc5-ca8741c1aa1c\scratchpad\pptx_build\icons\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2202" y="2924708"/>
            <a:ext cx="642823" cy="642823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748498" y="2709367"/>
            <a:ext cx="292608" cy="292608"/>
          </a:xfrm>
          <a:prstGeom prst="ellipse">
            <a:avLst/>
          </a:prstGeom>
          <a:solidFill>
            <a:srgbClr val="221E3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10748498" y="270022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9497324" y="3904488"/>
            <a:ext cx="20725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work &amp;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payment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9847814" y="4663440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9847814" y="46542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already exists in the product today; the tags show how far each one is along.</a:t>
            </a:r>
            <a:endParaRPr lang="en-US" sz="1150" dirty="0"/>
          </a:p>
        </p:txBody>
      </p:sp>
      <p:pic>
        <p:nvPicPr>
          <p:cNvPr id="41" name="Image 5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43" name="Text 35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in the product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227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67128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6" name="Image 0" descr="C:\Users\Sage world\AppData\Local\Temp\claude\C--Users-Sage-world-Downloads-New-Influora-Ai-New-Influora\f8dfa7bf-ad9d-4ce7-9bc5-ca8741c1aa1c\scratchpad\pptx_build\icons\users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226564"/>
            <a:ext cx="338328" cy="33832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715768"/>
            <a:ext cx="222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Marketplace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136392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profiles, apply flows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" y="3364992"/>
            <a:ext cx="2220392" cy="219456"/>
          </a:xfrm>
          <a:prstGeom prst="roundRect">
            <a:avLst>
              <a:gd name="adj" fmla="val 25000"/>
            </a:avLst>
          </a:prstGeom>
          <a:solidFill>
            <a:srgbClr val="DDF5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3355848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72536" y="1965960"/>
            <a:ext cx="26227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73704" y="2167128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13" name="Image 1" descr="C:\Users\Sage world\AppData\Local\Temp\claude\C--Users-Sage-world-Downloads-New-Influora-Ai-New-Influora\f8dfa7bf-ad9d-4ce7-9bc5-ca8741c1aa1c\scratchpad\pptx_build\icons\message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140" y="2226564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73704" y="2715768"/>
            <a:ext cx="222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Room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573704" y="3136392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&amp; briefs per deal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573704" y="3364992"/>
            <a:ext cx="2220392" cy="219456"/>
          </a:xfrm>
          <a:prstGeom prst="roundRect">
            <a:avLst>
              <a:gd name="adj" fmla="val 25000"/>
            </a:avLst>
          </a:prstGeom>
          <a:solidFill>
            <a:srgbClr val="DDF5E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3573704" y="3355848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196432" y="1965960"/>
            <a:ext cx="26227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97600" y="2167128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20" name="Image 2" descr="C:\Users\Sage world\AppData\Local\Temp\claude\C--Users-Sage-world-Downloads-New-Influora-Ai-New-Influora\f8dfa7bf-ad9d-4ce7-9bc5-ca8741c1aa1c\scratchpad\pptx_build\icons\package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036" y="2226564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97600" y="2715768"/>
            <a:ext cx="222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Tracking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397600" y="3136392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Submit, verify, mark posted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397600" y="3364992"/>
            <a:ext cx="2220392" cy="219456"/>
          </a:xfrm>
          <a:prstGeom prst="roundRect">
            <a:avLst>
              <a:gd name="adj" fmla="val 25000"/>
            </a:avLst>
          </a:prstGeom>
          <a:solidFill>
            <a:srgbClr val="DDF5E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397600" y="3355848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9020327" y="1965960"/>
            <a:ext cx="26227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21495" y="2167128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27" name="Image 3" descr="C:\Users\Sage world\AppData\Local\Temp\claude\C--Users-Sage-world-Downloads-New-Influora-Ai-New-Influora\f8dfa7bf-ad9d-4ce7-9bc5-ca8741c1aa1c\scratchpad\pptx_build\icons\star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0931" y="2226564"/>
            <a:ext cx="338328" cy="33832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221495" y="2715768"/>
            <a:ext cx="222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Reviews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9221495" y="3136392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and be rated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221495" y="3364992"/>
            <a:ext cx="2220392" cy="219456"/>
          </a:xfrm>
          <a:prstGeom prst="roundRect">
            <a:avLst>
              <a:gd name="adj" fmla="val 25000"/>
            </a:avLst>
          </a:prstGeom>
          <a:solidFill>
            <a:srgbClr val="DDF5E8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221495" y="3355848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548640" y="4005072"/>
            <a:ext cx="26227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49808" y="4206240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34" name="Image 4" descr="C:\Users\Sage world\AppData\Local\Temp\claude\C--Users-Sage-world-Downloads-New-Influora-Ai-New-Influora\f8dfa7bf-ad9d-4ce7-9bc5-ca8741c1aa1c\scratchpad\pptx_build\icons\link_prima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4265676"/>
            <a:ext cx="338328" cy="338328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49808" y="4754880"/>
            <a:ext cx="222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Links</a:t>
            </a:r>
            <a:endParaRPr lang="en-US" sz="1350" dirty="0"/>
          </a:p>
        </p:txBody>
      </p:sp>
      <p:sp>
        <p:nvSpPr>
          <p:cNvPr id="36" name="Text 29"/>
          <p:cNvSpPr txBox="1"/>
          <p:nvPr/>
        </p:nvSpPr>
        <p:spPr>
          <a:xfrm>
            <a:off x="749808" y="5175504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&amp; click attribution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749808" y="5404104"/>
            <a:ext cx="2220392" cy="219456"/>
          </a:xfrm>
          <a:prstGeom prst="roundRect">
            <a:avLst>
              <a:gd name="adj" fmla="val 25000"/>
            </a:avLst>
          </a:prstGeom>
          <a:solidFill>
            <a:srgbClr val="DDF5E8"/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749808" y="5394960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372536" y="4005072"/>
            <a:ext cx="26227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573704" y="4206240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41" name="Image 5" descr="C:\Users\Sage world\AppData\Local\Temp\claude\C--Users-Sage-world-Downloads-New-Influora-Ai-New-Influora\f8dfa7bf-ad9d-4ce7-9bc5-ca8741c1aa1c\scratchpad\pptx_build\icons\users_prima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3140" y="4265676"/>
            <a:ext cx="338328" cy="338328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3573704" y="4754880"/>
            <a:ext cx="222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Workspaces</a:t>
            </a:r>
            <a:endParaRPr lang="en-US" sz="1350" dirty="0"/>
          </a:p>
        </p:txBody>
      </p:sp>
      <p:sp>
        <p:nvSpPr>
          <p:cNvPr id="43" name="Text 35"/>
          <p:cNvSpPr txBox="1"/>
          <p:nvPr/>
        </p:nvSpPr>
        <p:spPr>
          <a:xfrm>
            <a:off x="3573704" y="5175504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teammates, roles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3573704" y="5404104"/>
            <a:ext cx="2220392" cy="219456"/>
          </a:xfrm>
          <a:prstGeom prst="roundRect">
            <a:avLst>
              <a:gd name="adj" fmla="val 25000"/>
            </a:avLst>
          </a:prstGeom>
          <a:solidFill>
            <a:srgbClr val="DDF5E8"/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3573704" y="5394960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6196432" y="4005072"/>
            <a:ext cx="26227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397600" y="4206240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48" name="Image 6" descr="C:\Users\Sage world\AppData\Local\Temp\claude\C--Users-Sage-world-Downloads-New-Influora-Ai-New-Influora\f8dfa7bf-ad9d-4ce7-9bc5-ca8741c1aa1c\scratchpad\pptx_build\icons\file_prima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7036" y="4265676"/>
            <a:ext cx="338328" cy="338328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6397600" y="4754880"/>
            <a:ext cx="222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Contracts</a:t>
            </a:r>
            <a:endParaRPr lang="en-US" sz="1350" dirty="0"/>
          </a:p>
        </p:txBody>
      </p:sp>
      <p:sp>
        <p:nvSpPr>
          <p:cNvPr id="50" name="Text 41"/>
          <p:cNvSpPr txBox="1"/>
          <p:nvPr/>
        </p:nvSpPr>
        <p:spPr>
          <a:xfrm>
            <a:off x="6397600" y="5175504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per deal</a:t>
            </a:r>
            <a:endParaRPr lang="en-US" sz="1050" dirty="0"/>
          </a:p>
        </p:txBody>
      </p:sp>
      <p:sp>
        <p:nvSpPr>
          <p:cNvPr id="51" name="Shape 42"/>
          <p:cNvSpPr/>
          <p:nvPr/>
        </p:nvSpPr>
        <p:spPr>
          <a:xfrm>
            <a:off x="6397600" y="5404104"/>
            <a:ext cx="2220392" cy="219456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6397600" y="5394960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9020327" y="4005072"/>
            <a:ext cx="262272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9221495" y="4206240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55" name="Image 7" descr="C:\Users\Sage world\AppData\Local\Temp\claude\C--Users-Sage-world-Downloads-New-Influora-Ai-New-Influora\f8dfa7bf-ad9d-4ce7-9bc5-ca8741c1aa1c\scratchpad\pptx_build\icons\bar_prima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0931" y="4265676"/>
            <a:ext cx="338328" cy="338328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9221495" y="4754880"/>
            <a:ext cx="2220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Analytics</a:t>
            </a:r>
            <a:endParaRPr lang="en-US" sz="1350" dirty="0"/>
          </a:p>
        </p:txBody>
      </p:sp>
      <p:sp>
        <p:nvSpPr>
          <p:cNvPr id="57" name="Text 47"/>
          <p:cNvSpPr txBox="1"/>
          <p:nvPr/>
        </p:nvSpPr>
        <p:spPr>
          <a:xfrm>
            <a:off x="9221495" y="5175504"/>
            <a:ext cx="2220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dashboards</a:t>
            </a:r>
            <a:endParaRPr lang="en-US" sz="1050" dirty="0"/>
          </a:p>
        </p:txBody>
      </p:sp>
      <p:sp>
        <p:nvSpPr>
          <p:cNvPr id="58" name="Shape 48"/>
          <p:cNvSpPr/>
          <p:nvPr/>
        </p:nvSpPr>
        <p:spPr>
          <a:xfrm>
            <a:off x="9221495" y="5404104"/>
            <a:ext cx="2220392" cy="219456"/>
          </a:xfrm>
          <a:prstGeom prst="roundRect">
            <a:avLst>
              <a:gd name="adj" fmla="val 25000"/>
            </a:avLst>
          </a:prstGeom>
          <a:solidFill>
            <a:srgbClr val="FFF4D6"/>
          </a:solidFill>
          <a:ln/>
        </p:spPr>
      </p:sp>
      <p:sp>
        <p:nvSpPr>
          <p:cNvPr id="59" name="Text 49"/>
          <p:cNvSpPr txBox="1"/>
          <p:nvPr/>
        </p:nvSpPr>
        <p:spPr>
          <a:xfrm>
            <a:off x="9221495" y="5394960"/>
            <a:ext cx="2220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pic>
        <p:nvPicPr>
          <p:cNvPr id="60" name="Image 8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protection, built to be accountable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32908" cy="1783080"/>
          </a:xfrm>
          <a:prstGeom prst="roundRect">
            <a:avLst>
              <a:gd name="adj" fmla="val 4615"/>
            </a:avLst>
          </a:prstGeom>
          <a:solidFill>
            <a:srgbClr val="F3EFFC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6" name="Image 0" descr="C:\Users\Sage world\AppData\Local\Temp\claude\C--Users-Sage-world-Downloads-New-Influora-Ai-New-Influora\f8dfa7bf-ad9d-4ce7-9bc5-ca8741c1aa1c\scratchpad\pptx_build\icons\walle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22142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084832"/>
            <a:ext cx="4335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in your Influora wallet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542032"/>
            <a:ext cx="433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budgets are held against your workspace wallet, tied to that campaign.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32918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FFF4D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3282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10148" y="1920240"/>
            <a:ext cx="5432908" cy="1783080"/>
          </a:xfrm>
          <a:prstGeom prst="roundRect">
            <a:avLst>
              <a:gd name="adj" fmla="val 4615"/>
            </a:avLst>
          </a:prstGeom>
          <a:solidFill>
            <a:srgbClr val="F3EFFC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38748" y="2148840"/>
            <a:ext cx="502920" cy="502920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13" name="Image 1" descr="C:\Users\Sage world\AppData\Local\Temp\claude\C--Users-Sage-world-Downloads-New-Influora-Ai-New-Influora\f8dfa7bf-ad9d-4ce7-9bc5-ca8741c1aa1c\scratchpad\pptx_build\icons\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127" y="221422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78828" y="2084832"/>
            <a:ext cx="4335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only after you approve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078828" y="2542032"/>
            <a:ext cx="433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are paid once you review and approve their submitted deliverable.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38748" y="32918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DDF5E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438748" y="328269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3931920"/>
            <a:ext cx="5432908" cy="1783080"/>
          </a:xfrm>
          <a:prstGeom prst="roundRect">
            <a:avLst>
              <a:gd name="adj" fmla="val 4615"/>
            </a:avLst>
          </a:prstGeom>
          <a:solidFill>
            <a:srgbClr val="F3EFFC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20" name="Image 2" descr="C:\Users\Sage world\AppData\Local\Temp\claude\C--Users-Sage-world-Downloads-New-Influora-Ai-New-Influora\f8dfa7bf-ad9d-4ce7-9bc5-ca8741c1aa1c\scratchpad\pptx_build\icons\refres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620" y="4225900"/>
            <a:ext cx="372161" cy="37216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417320" y="4096512"/>
            <a:ext cx="4335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1417320" y="4553712"/>
            <a:ext cx="433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path to raise and resolve a disagreement on any deal.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777240" y="530352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DDF5E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77240" y="52943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210148" y="3931920"/>
            <a:ext cx="5432908" cy="1783080"/>
          </a:xfrm>
          <a:prstGeom prst="roundRect">
            <a:avLst>
              <a:gd name="adj" fmla="val 4615"/>
            </a:avLst>
          </a:prstGeom>
          <a:solidFill>
            <a:srgbClr val="F3EFFC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38748" y="4160520"/>
            <a:ext cx="502920" cy="502920"/>
          </a:xfrm>
          <a:prstGeom prst="ellipse">
            <a:avLst/>
          </a:prstGeom>
          <a:solidFill>
            <a:srgbClr val="6D5AE6"/>
          </a:solidFill>
          <a:ln/>
        </p:spPr>
      </p:sp>
      <p:pic>
        <p:nvPicPr>
          <p:cNvPr id="27" name="Image 3" descr="C:\Users\Sage world\AppData\Local\Temp\claude\C--Users-Sage-world-Downloads-New-Influora-Ai-New-Influora\f8dfa7bf-ad9d-4ce7-9bc5-ca8741c1aa1c\scratchpad\pptx_build\icons\fi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127" y="4225900"/>
            <a:ext cx="372161" cy="37216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078828" y="4096512"/>
            <a:ext cx="43356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GST-ready invoicing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078828" y="4553712"/>
            <a:ext cx="43356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are generated against your campaign and platform-fee spend.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6438748" y="530352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FFF4D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6438748" y="529437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5852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 facilitates payments between brands and creators. It is not a licensed payment aggregator and does not claim regulatory custody of your funds.</a:t>
            </a:r>
            <a:endParaRPr lang="en-US" sz="1050" dirty="0"/>
          </a:p>
        </p:txBody>
      </p:sp>
      <p:pic>
        <p:nvPicPr>
          <p:cNvPr id="33" name="Image 4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342C5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A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Meera, your campaign co-pilot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chat-based assistant inside Influora that helps you plan and staff a campaign.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4C3BC2"/>
          </a:solidFill>
          <a:ln/>
        </p:spPr>
      </p:sp>
      <p:pic>
        <p:nvPicPr>
          <p:cNvPr id="7" name="Image 0" descr="C:\Users\Sage world\AppData\Local\Temp\claude\C--Users-Sage-world-Downloads-New-Influora-Ai-New-Influora\f8dfa7bf-ad9d-4ce7-9bc5-ca8741c1aa1c\scratchpad\pptx_build\icons\mess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23971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3591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to plan a campaign brief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2423160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955280" y="241401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3172968"/>
            <a:ext cx="502920" cy="502920"/>
          </a:xfrm>
          <a:prstGeom prst="ellipse">
            <a:avLst/>
          </a:prstGeom>
          <a:solidFill>
            <a:srgbClr val="4C3BC2"/>
          </a:solidFill>
          <a:ln/>
        </p:spPr>
      </p:sp>
      <p:pic>
        <p:nvPicPr>
          <p:cNvPr id="12" name="Image 1" descr="C:\Users\Sage world\AppData\Local\Temp\claude\C--Users-Sage-world-Downloads-New-Influora-Ai-New-Influora\f8dfa7bf-ad9d-4ce7-9bc5-ca8741c1aa1c\scratchpad\pptx_build\icons\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3238348"/>
            <a:ext cx="372161" cy="3721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creator recommendations in-chat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955280" y="3264408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7955280" y="32552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48640" y="4014216"/>
            <a:ext cx="502920" cy="502920"/>
          </a:xfrm>
          <a:prstGeom prst="ellipse">
            <a:avLst/>
          </a:prstGeom>
          <a:solidFill>
            <a:srgbClr val="4C3BC2"/>
          </a:solidFill>
          <a:ln/>
        </p:spPr>
      </p:sp>
      <p:pic>
        <p:nvPicPr>
          <p:cNvPr id="17" name="Image 2" descr="C:\Users\Sage world\AppData\Local\Temp\claude\C--Users-Sage-world-Downloads-New-Influora-Ai-New-Influora\f8dfa7bf-ad9d-4ce7-9bc5-ca8741c1aa1c\scratchpad\pptx_build\icons\walle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4079596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40416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Meera to estimate your budget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955280" y="4105656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955280" y="40965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48640" y="4855464"/>
            <a:ext cx="502920" cy="502920"/>
          </a:xfrm>
          <a:prstGeom prst="ellipse">
            <a:avLst/>
          </a:prstGeom>
          <a:solidFill>
            <a:srgbClr val="4C3BC2"/>
          </a:solidFill>
          <a:ln/>
        </p:spPr>
      </p:sp>
      <p:pic>
        <p:nvPicPr>
          <p:cNvPr id="22" name="Image 3" descr="C:\Users\Sage world\AppData\Local\Temp\claude\C--Users-Sage-world-Downloads-New-Influora-Ai-New-Influora\f8dfa7bf-ad9d-4ce7-9bc5-ca8741c1aa1c\scratchpad\pptx_build\icons\za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4920844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488289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Meera by voice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7955280" y="4946904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955280" y="493776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732520" y="2331720"/>
            <a:ext cx="2880360" cy="3383280"/>
          </a:xfrm>
          <a:prstGeom prst="roundRect">
            <a:avLst>
              <a:gd name="adj" fmla="val 2857"/>
            </a:avLst>
          </a:prstGeom>
          <a:solidFill>
            <a:srgbClr val="2C2745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9006840" y="25420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stay safe with money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006840" y="30632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Meera’s tools are scoped and reviewed — she cannot move money on her own.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9006840" y="5212080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9006840" y="5202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pic>
        <p:nvPicPr>
          <p:cNvPr id="31" name="Image 4" descr="C:\Users\Sage world\AppData\Local\Temp\claude\C--Users-Sage-world-Downloads-New-Influora-Ai-New-Influora\f8dfa7bf-ad9d-4ce7-9bc5-ca8741c1aa1c\scratchpad\pptx_build\mark-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ANALYTICS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your store, see what worked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100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6" name="Image 0" descr="C:\Users\Sage world\AppData\Local\Temp\claude\C--Users-Sage-world-Downloads-New-Influora-Ai-New-Influora\f8dfa7bf-ad9d-4ce7-9bc5-ca8741c1aa1c\scratchpad\pptx_build\icons\globe_pri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3573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26771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633472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store for order-level attribution.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47472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3465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33008" y="2011680"/>
            <a:ext cx="54100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07328" y="2286000"/>
            <a:ext cx="548640" cy="54864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13" name="Image 1" descr="C:\Users\Sage world\AppData\Local\Temp\claude\C--Users-Sage-world-Downloads-New-Influora-Ai-New-Influora\f8dfa7bf-ad9d-4ce7-9bc5-ca8741c1aa1c\scratchpad\pptx_build\icons\globe_prim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51" y="235732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38848" y="226771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238848" y="2633472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Shopify store to Influora.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507328" y="347472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507328" y="3465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4160520"/>
            <a:ext cx="54100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434840"/>
            <a:ext cx="548640" cy="54864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20" name="Image 2" descr="C:\Users\Sage world\AppData\Local\Temp\claude\C--Users-Sage-world-Downloads-New-Influora-Ai-New-Influora\f8dfa7bf-ad9d-4ce7-9bc5-ca8741c1aa1c\scratchpad\pptx_build\icons\link_pri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506163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554480" y="441655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links &amp; coupons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554480" y="4782312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sales back to each creator’s link or code.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22960" y="56235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22960" y="56144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233008" y="4160520"/>
            <a:ext cx="5410048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507328" y="4434840"/>
            <a:ext cx="548640" cy="548640"/>
          </a:xfrm>
          <a:prstGeom prst="ellipse">
            <a:avLst/>
          </a:prstGeom>
          <a:solidFill>
            <a:srgbClr val="EBE4F8"/>
          </a:solidFill>
          <a:ln/>
        </p:spPr>
      </p:sp>
      <p:pic>
        <p:nvPicPr>
          <p:cNvPr id="27" name="Image 3" descr="C:\Users\Sage world\AppData\Local\Temp\claude\C--Users-Sage-world-Downloads-New-Influora-Ai-New-Influora\f8dfa7bf-ad9d-4ce7-9bc5-ca8741c1aa1c\scratchpad\pptx_build\icons\bar_prima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51" y="4506163"/>
            <a:ext cx="405994" cy="40599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238848" y="4416552"/>
            <a:ext cx="412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analytics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7238848" y="4782312"/>
            <a:ext cx="412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dashboards per creator and campaign.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6507328" y="56235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6507328" y="561441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pic>
        <p:nvPicPr>
          <p:cNvPr id="32" name="Image 4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a platform fee, not a subscription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258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603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 to start</a:t>
            </a:r>
            <a:endParaRPr lang="en-US" sz="1200" dirty="0"/>
          </a:p>
        </p:txBody>
      </p:sp>
      <p:pic>
        <p:nvPicPr>
          <p:cNvPr id="8" name="Image 0" descr="C:\Users\Sage world\AppData\Local\Temp\claude\C--Users-Sage-world-Downloads-New-Influora-Ai-New-Influora\f8dfa7bf-ad9d-4ce7-9bc5-ca8741c1aa1c\scratchpad\pptx_build\icons\check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703320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36576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shortlist creators</a:t>
            </a:r>
            <a:endParaRPr lang="en-US" sz="1200" dirty="0"/>
          </a:p>
        </p:txBody>
      </p:sp>
      <p:pic>
        <p:nvPicPr>
          <p:cNvPr id="10" name="Image 1" descr="C:\Users\Sage world\AppData\Local\Temp\claude\C--Users-Sage-world-Downloads-New-Influora-Ai-New-Influora\f8dfa7bf-ad9d-4ce7-9bc5-ca8741c1aa1c\scratchpad\pptx_build\icons\check_suc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8736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40416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room &amp; deliverable tracking</a:t>
            </a:r>
            <a:endParaRPr lang="en-US" sz="1200" dirty="0"/>
          </a:p>
        </p:txBody>
      </p:sp>
      <p:pic>
        <p:nvPicPr>
          <p:cNvPr id="12" name="Image 2" descr="C:\Users\Sage world\AppData\Local\Temp\claude\C--Users-Sage-world-Downloads-New-Influora-Ai-New-Influora\f8dfa7bf-ad9d-4ce7-9bc5-ca8741c1aa1c\scratchpad\pptx_build\icons\check_succ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7141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44256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200" dirty="0"/>
          </a:p>
        </p:txBody>
      </p:sp>
      <p:pic>
        <p:nvPicPr>
          <p:cNvPr id="14" name="Image 3" descr="C:\Users\Sage world\AppData\Local\Temp\claude\C--Users-Sage-world-Downloads-New-Influora-Ai-New-Influora\f8dfa7bf-ad9d-4ce7-9bc5-ca8741c1aa1c\scratchpad\pptx_build\icons\check_succ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55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48097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fee only when you publish (10%)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914400" y="5212080"/>
            <a:ext cx="2286000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17" name="Text 11"/>
          <p:cNvSpPr txBox="1"/>
          <p:nvPr/>
        </p:nvSpPr>
        <p:spPr>
          <a:xfrm>
            <a:off x="914400" y="5202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035040" y="1965960"/>
            <a:ext cx="5074920" cy="3749040"/>
          </a:xfrm>
          <a:prstGeom prst="roundRect">
            <a:avLst>
              <a:gd name="adj" fmla="val 2195"/>
            </a:avLst>
          </a:prstGeom>
          <a:solidFill>
            <a:srgbClr val="221E35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400800" y="2258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A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0" y="2560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₹4,999</a:t>
            </a:r>
            <a:endParaRPr lang="en-US" sz="4000" dirty="0"/>
          </a:p>
        </p:txBody>
      </p:sp>
      <p:sp>
        <p:nvSpPr>
          <p:cNvPr id="21" name="Text 15"/>
          <p:cNvSpPr txBox="1"/>
          <p:nvPr/>
        </p:nvSpPr>
        <p:spPr>
          <a:xfrm>
            <a:off x="836676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0" y="32461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Free, plus:</a:t>
            </a:r>
            <a:endParaRPr lang="en-US" sz="1200" dirty="0"/>
          </a:p>
        </p:txBody>
      </p:sp>
      <p:pic>
        <p:nvPicPr>
          <p:cNvPr id="23" name="Image 4" descr="C:\Users\Sage world\AppData\Local\Temp\claude\C--Users-Sage-world-Downloads-New-Influora-Ai-New-Influora\f8dfa7bf-ad9d-4ce7-9bc5-ca8741c1aa1c\scratchpad\pptx_build\icons\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720840" y="36576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AI credits with Meera per month</a:t>
            </a:r>
            <a:endParaRPr lang="en-US" sz="1200" dirty="0"/>
          </a:p>
        </p:txBody>
      </p:sp>
      <p:pic>
        <p:nvPicPr>
          <p:cNvPr id="25" name="Image 5" descr="C:\Users\Sage world\AppData\Local\Temp\claude\C--Users-Sage-world-Downloads-New-Influora-Ai-New-Influora\f8dfa7bf-ad9d-4ce7-9bc5-ca8741c1aa1c\scratchpad\pptx_build\icons\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087368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720840" y="40416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team seats</a:t>
            </a:r>
            <a:endParaRPr lang="en-US" sz="1200" dirty="0"/>
          </a:p>
        </p:txBody>
      </p:sp>
      <p:pic>
        <p:nvPicPr>
          <p:cNvPr id="27" name="Image 6" descr="C:\Users\Sage world\AppData\Local\Temp\claude\C--Users-Sage-world-Downloads-New-Influora-Ai-New-Influora\f8dfa7bf-ad9d-4ce7-9bc5-ca8741c1aa1c\scratchpad\pptx_build\icons\che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4471416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20840" y="44256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platform fee (7%)</a:t>
            </a:r>
            <a:endParaRPr lang="en-US" sz="1200" dirty="0"/>
          </a:p>
        </p:txBody>
      </p:sp>
      <p:sp>
        <p:nvSpPr>
          <p:cNvPr id="29" name="Shape 20"/>
          <p:cNvSpPr/>
          <p:nvPr/>
        </p:nvSpPr>
        <p:spPr>
          <a:xfrm>
            <a:off x="6400800" y="521208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30" name="Text 21"/>
          <p:cNvSpPr txBox="1"/>
          <p:nvPr/>
        </p:nvSpPr>
        <p:spPr>
          <a:xfrm>
            <a:off x="6400800" y="52029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31" name="Text 22"/>
          <p:cNvSpPr txBox="1"/>
          <p:nvPr/>
        </p:nvSpPr>
        <p:spPr>
          <a:xfrm>
            <a:off x="6400800" y="549554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A9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above — In development tag refers to self-serve upgrade</a:t>
            </a:r>
            <a:endParaRPr lang="en-US" sz="850" dirty="0"/>
          </a:p>
        </p:txBody>
      </p:sp>
      <p:sp>
        <p:nvSpPr>
          <p:cNvPr id="32" name="Text 23"/>
          <p:cNvSpPr txBox="1"/>
          <p:nvPr/>
        </p:nvSpPr>
        <p:spPr>
          <a:xfrm>
            <a:off x="54864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are paid at no extra cost to you beyond the platform fee shown before you go live.</a:t>
            </a:r>
            <a:endParaRPr lang="en-US" sz="1050" dirty="0"/>
          </a:p>
        </p:txBody>
      </p:sp>
      <p:pic>
        <p:nvPicPr>
          <p:cNvPr id="33" name="Image 7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35" name="Text 25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two weeks on Influora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02082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workspace &amp; invite your team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052560" y="2048256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052560" y="2039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340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business (KYC)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052560" y="2761488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27523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4472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creator marketplace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9052560" y="3474720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52560" y="3465576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105656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your first campaign, with or without Meera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052560" y="4187952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52560" y="417880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818888"/>
            <a:ext cx="457200" cy="457200"/>
          </a:xfrm>
          <a:prstGeom prst="ellipse">
            <a:avLst/>
          </a:prstGeom>
          <a:solidFill>
            <a:srgbClr val="EBE4F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234440" y="4873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campaign from your wallet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9052560" y="4901184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FFF4D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52560" y="48920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6D5AE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522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5869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Collaborate, review and release payment in the deal room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9052560" y="5614416"/>
            <a:ext cx="1481328" cy="256032"/>
          </a:xfrm>
          <a:prstGeom prst="roundRect">
            <a:avLst>
              <a:gd name="adj" fmla="val 21429"/>
            </a:avLst>
          </a:prstGeom>
          <a:solidFill>
            <a:srgbClr val="DDF5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052560" y="560527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00" dirty="0"/>
          </a:p>
        </p:txBody>
      </p:sp>
      <p:pic>
        <p:nvPicPr>
          <p:cNvPr id="34" name="Image 0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35" name="Text 32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5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21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product is headed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76218" cy="4297680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DDF5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311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15768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82296" cy="82296"/>
          </a:xfrm>
          <a:prstGeom prst="ellipse">
            <a:avLst/>
          </a:prstGeom>
          <a:solidFill>
            <a:srgbClr val="2F7A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24128" y="3118104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marketplace &amp; deal rooms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813048"/>
            <a:ext cx="82296" cy="82296"/>
          </a:xfrm>
          <a:prstGeom prst="ellipse">
            <a:avLst/>
          </a:prstGeom>
          <a:solidFill>
            <a:srgbClr val="2F7A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24128" y="3685032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tracking &amp; reviews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4379976"/>
            <a:ext cx="82296" cy="82296"/>
          </a:xfrm>
          <a:prstGeom prst="ellipse">
            <a:avLst/>
          </a:prstGeom>
          <a:solidFill>
            <a:srgbClr val="2F7A5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24128" y="4251960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946904"/>
            <a:ext cx="82296" cy="82296"/>
          </a:xfrm>
          <a:prstGeom prst="ellipse">
            <a:avLst/>
          </a:prstGeom>
          <a:solidFill>
            <a:srgbClr val="2F7A5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24128" y="4818888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links &amp; coupons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07738" y="1965960"/>
            <a:ext cx="3576218" cy="4297680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82058" y="224028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FFF4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82058" y="22311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82058" y="2715768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hardened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82058" y="3246120"/>
            <a:ext cx="82296" cy="82296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83226" y="3118104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KYC &amp; campaign launch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82058" y="3813048"/>
            <a:ext cx="82296" cy="82296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83226" y="3685032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funding reliability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82058" y="4379976"/>
            <a:ext cx="82296" cy="82296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83226" y="4251960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campaign co-pilot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82058" y="4946904"/>
            <a:ext cx="82296" cy="82296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83226" y="4818888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integration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82058" y="5513832"/>
            <a:ext cx="82296" cy="82296"/>
          </a:xfrm>
          <a:prstGeom prst="ellipse">
            <a:avLst/>
          </a:prstGeom>
          <a:solidFill>
            <a:srgbClr val="8A6B1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83226" y="5385816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analytics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66837" y="1965960"/>
            <a:ext cx="3576218" cy="4297680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9525">
            <a:solidFill>
              <a:srgbClr val="D8D4E8"/>
            </a:solidFill>
            <a:prstDash val="solid"/>
          </a:ln>
          <a:effectLst>
            <a:outerShdw sx="100000" sy="100000" kx="0" ky="0" algn="bl" rotWithShape="0" blurRad="114300" dist="38100" dir="5400000">
              <a:srgbClr val="3A3255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41157" y="2240280"/>
            <a:ext cx="1280160" cy="365760"/>
          </a:xfrm>
          <a:prstGeom prst="roundRect">
            <a:avLst>
              <a:gd name="adj" fmla="val 15000"/>
            </a:avLst>
          </a:prstGeom>
          <a:solidFill>
            <a:srgbClr val="EBE4F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41157" y="22311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5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41157" y="2715768"/>
            <a:ext cx="30275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341157" y="3246120"/>
            <a:ext cx="82296" cy="82296"/>
          </a:xfrm>
          <a:prstGeom prst="ellipse">
            <a:avLst/>
          </a:prstGeom>
          <a:solidFill>
            <a:srgbClr val="5B557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42325" y="3118104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support center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41157" y="3813048"/>
            <a:ext cx="82296" cy="82296"/>
          </a:xfrm>
          <a:prstGeom prst="ellipse">
            <a:avLst/>
          </a:prstGeom>
          <a:solidFill>
            <a:srgbClr val="5B557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42325" y="3685032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campaign reports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41157" y="4379976"/>
            <a:ext cx="82296" cy="82296"/>
          </a:xfrm>
          <a:prstGeom prst="ellipse">
            <a:avLst/>
          </a:prstGeom>
          <a:solidFill>
            <a:srgbClr val="5B557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42325" y="4251960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tax documentation on payouts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41157" y="4946904"/>
            <a:ext cx="82296" cy="82296"/>
          </a:xfrm>
          <a:prstGeom prst="ellipse">
            <a:avLst/>
          </a:prstGeom>
          <a:solidFill>
            <a:srgbClr val="5B557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542325" y="4818888"/>
            <a:ext cx="2798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2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campaign launch</a:t>
            </a:r>
            <a:endParaRPr lang="en-US" sz="1150" dirty="0"/>
          </a:p>
        </p:txBody>
      </p:sp>
      <p:pic>
        <p:nvPicPr>
          <p:cNvPr id="42" name="Image 0" descr="C:\Users\Sage world\AppData\Local\Temp\claude\C--Users-Sage-world-Downloads-New-Influora-Ai-New-Influora\f8dfa7bf-ad9d-4ce7-9bc5-ca8741c1aa1c\scratchpad\pptx_build\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761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120640" cy="5120640"/>
          </a:xfrm>
          <a:prstGeom prst="ellipse">
            <a:avLst/>
          </a:prstGeom>
          <a:solidFill>
            <a:srgbClr val="4C3BC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645920"/>
            <a:ext cx="3840480" cy="3840480"/>
          </a:xfrm>
          <a:prstGeom prst="ellipse">
            <a:avLst/>
          </a:prstGeom>
          <a:solidFill>
            <a:srgbClr val="342C52"/>
          </a:solidFill>
          <a:ln/>
        </p:spPr>
      </p:sp>
      <p:pic>
        <p:nvPicPr>
          <p:cNvPr id="4" name="Image 0" descr="C:\Users\Sage world\AppData\Local\Temp\claude\C--Users-Sage-world-Downloads-New-Influora-Ai-New-Influora\f8dfa7bf-ad9d-4ce7-9bc5-ca8741c1aa1c\scratchpad\pptx_build\logo-lockup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246888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286000"/>
            <a:ext cx="9326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run your next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on Influora?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794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our team for a guided walkthrough of what’s live today and what’s coming next.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709160"/>
            <a:ext cx="3017520" cy="594360"/>
          </a:xfrm>
          <a:prstGeom prst="roundRect">
            <a:avLst>
              <a:gd name="adj" fmla="val 15385"/>
            </a:avLst>
          </a:prstGeom>
          <a:solidFill>
            <a:srgbClr val="6D5AE6"/>
          </a:solidFill>
          <a:ln/>
        </p:spPr>
      </p:sp>
      <p:pic>
        <p:nvPicPr>
          <p:cNvPr id="8" name="Image 1" descr="C:\Users\Sage world\AppData\Local\Temp\claude\C--Users-Sage-world-Downloads-New-Influora-Ai-New-Influora\f8dfa7bf-ad9d-4ce7-9bc5-ca8741c1aa1c\scratchpad\pptx_build\icons\mai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8646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info@influora.in</a:t>
            </a:r>
            <a:endParaRPr lang="en-US" sz="1400" dirty="0"/>
          </a:p>
        </p:txBody>
      </p:sp>
      <p:pic>
        <p:nvPicPr>
          <p:cNvPr id="10" name="Image 2" descr="C:\Users\Sage world\AppData\Local\Temp\claude\C--Users-Sage-world-Downloads-New-Influora-Ai-New-Influora\f8dfa7bf-ad9d-4ce7-9bc5-ca8741c1aa1c\scratchpad\pptx_build\icons\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23560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59536" y="5605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influora.in</a:t>
            </a:r>
            <a:endParaRPr lang="en-US" sz="1250" dirty="0"/>
          </a:p>
        </p:txBody>
      </p:sp>
      <p:pic>
        <p:nvPicPr>
          <p:cNvPr id="12" name="Image 3" descr="C:\Users\Sage world\AppData\Local\Temp\claude\C--Users-Sage-world-Downloads-New-Influora-Ai-New-Influora\f8dfa7bf-ad9d-4ce7-9bc5-ca8741c1aa1c\scratchpad\pptx_build\mark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437376"/>
            <a:ext cx="164592" cy="16459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8096" y="6409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Influora</a:t>
            </a:r>
            <a:endParaRPr lang="en-US" sz="900" dirty="0"/>
          </a:p>
        </p:txBody>
      </p:sp>
      <p:sp>
        <p:nvSpPr>
          <p:cNvPr id="14" name="Text 8"/>
          <p:cNvSpPr txBox="1"/>
          <p:nvPr/>
        </p:nvSpPr>
        <p:spPr>
          <a:xfrm>
            <a:off x="10728655" y="64099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Influora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Influora for Brands</dc:title>
  <dc:subject>PptxGenJS Presentation</dc:subject>
  <dc:creator>Riya - Sage Presentation Design</dc:creator>
  <cp:lastModifiedBy>Riya - Sage Presentation Design</cp:lastModifiedBy>
  <cp:revision>1</cp:revision>
  <dcterms:created xsi:type="dcterms:W3CDTF">2026-09-19T11:33:16Z</dcterms:created>
  <dcterms:modified xsi:type="dcterms:W3CDTF">2026-09-19T11:33:16Z</dcterms:modified>
</cp:coreProperties>
</file>